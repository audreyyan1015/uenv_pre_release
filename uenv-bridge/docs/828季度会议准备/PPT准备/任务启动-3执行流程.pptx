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914400"/>
            <a:ext cx="3291840" cy="2560320"/>
          </a:xfrm>
          <a:prstGeom prst="ellipse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303520"/>
            <a:ext cx="4389120" cy="2560320"/>
          </a:xfrm>
          <a:prstGeom prst="ellipse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56692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11111"/>
                </a:solidFill>
                <a:latin typeface="Microsoft YaHei"/>
              </a:rPr>
              <a:t>任务启动：3 类执行流程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F6673"/>
                </a:solidFill>
                <a:latin typeface="Microsoft YaHei"/>
              </a:rPr>
              <a:t>先完成模型与数据准备，再按业务入口启动后训练、测评或轨迹采集。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43000" cy="256032"/>
          </a:xfrm>
          <a:prstGeom prst="roundRect">
            <a:avLst/>
          </a:prstGeom>
          <a:solidFill>
            <a:srgbClr val="EAF4FF"/>
          </a:solidFill>
          <a:ln w="7620">
            <a:solidFill>
              <a:srgbClr val="B8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29868"/>
            <a:ext cx="100584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0070F3"/>
                </a:solidFill>
                <a:latin typeface="Microsoft YaHei"/>
              </a:rPr>
              <a:t>统一资源准备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27048"/>
            <a:ext cx="11183112" cy="914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00784"/>
            <a:ext cx="3497071" cy="10241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865376"/>
            <a:ext cx="329184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29384"/>
            <a:ext cx="329184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070F3"/>
                </a:solidFill>
                <a:latin typeface="Aptos Display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1865376"/>
            <a:ext cx="2674111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11111"/>
                </a:solidFill>
                <a:latin typeface="Microsoft YaHei"/>
              </a:rPr>
              <a:t>Hub 连接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139696"/>
            <a:ext cx="267411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5F6673"/>
                </a:solidFill>
                <a:latin typeface="Microsoft YaHei"/>
              </a:rPr>
              <a:t>获取环境、模型和数据资源的统一入口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2432304"/>
            <a:ext cx="3167887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68880"/>
            <a:ext cx="2985007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374151"/>
                </a:solidFill>
                <a:latin typeface="Consolas"/>
              </a:rPr>
              <a:t>uenv hub login --endpoint "$HUB"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82287" y="2157984"/>
            <a:ext cx="182880" cy="109728"/>
          </a:xfrm>
          <a:prstGeom prst="rightArrow">
            <a:avLst/>
          </a:prstGeom>
          <a:solidFill>
            <a:srgbClr val="A8B1C1"/>
          </a:solidFill>
          <a:ln>
            <a:solidFill>
              <a:srgbClr val="A8B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7463" y="1700784"/>
            <a:ext cx="3497071" cy="10241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12055" y="1865376"/>
            <a:ext cx="329184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2055" y="1929384"/>
            <a:ext cx="329184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070F3"/>
                </a:solidFill>
                <a:latin typeface="Aptos Display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9255" y="1865376"/>
            <a:ext cx="2674111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11111"/>
                </a:solidFill>
                <a:latin typeface="Microsoft YaHei"/>
              </a:rPr>
              <a:t>模型准备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9255" y="2139696"/>
            <a:ext cx="267411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5F6673"/>
                </a:solidFill>
                <a:latin typeface="Microsoft YaHei"/>
              </a:rPr>
              <a:t>启动模型服务，或使用已配置的模型 endpoint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2055" y="2432304"/>
            <a:ext cx="3167887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3495" y="2468880"/>
            <a:ext cx="2985007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374151"/>
                </a:solidFill>
                <a:latin typeface="Consolas"/>
              </a:rPr>
              <a:t>MODEL_ENDPOINT="http://MODEL_HOST:8000/v1"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26831" y="2157984"/>
            <a:ext cx="182880" cy="109728"/>
          </a:xfrm>
          <a:prstGeom prst="rightArrow">
            <a:avLst/>
          </a:prstGeom>
          <a:solidFill>
            <a:srgbClr val="A8B1C1"/>
          </a:solidFill>
          <a:ln>
            <a:solidFill>
              <a:srgbClr val="A8B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92007" y="1700784"/>
            <a:ext cx="3497071" cy="10241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56599" y="1865376"/>
            <a:ext cx="329184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6599" y="1929384"/>
            <a:ext cx="329184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070F3"/>
                </a:solidFill>
                <a:latin typeface="Aptos Display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3799" y="1865376"/>
            <a:ext cx="2674111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11111"/>
                </a:solidFill>
                <a:latin typeface="Microsoft YaHei"/>
              </a:rPr>
              <a:t>数据准备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3799" y="2139696"/>
            <a:ext cx="267411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5F6673"/>
                </a:solidFill>
                <a:latin typeface="Microsoft YaHei"/>
              </a:rPr>
              <a:t>将任务数据整理成 Episode JSONL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56599" y="2432304"/>
            <a:ext cx="3167887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8039" y="2468880"/>
            <a:ext cx="2985007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374151"/>
                </a:solidFill>
                <a:latin typeface="Consolas"/>
              </a:rPr>
              <a:t>DATA_JSONL="./data/task.jsonl"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01752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11111"/>
                </a:solidFill>
                <a:latin typeface="Microsoft YaHei"/>
              </a:rPr>
              <a:t>任务启动入口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054096"/>
            <a:ext cx="78638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5F6673"/>
                </a:solidFill>
                <a:latin typeface="Microsoft YaHei"/>
              </a:rPr>
              <a:t>三类业务复用同一套 EpisodeRequest / EpisodeResult，但消费结果的方式不同。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401568"/>
            <a:ext cx="3497071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7512" y="3566160"/>
            <a:ext cx="530352" cy="228600"/>
          </a:xfrm>
          <a:prstGeom prst="roundRect">
            <a:avLst/>
          </a:prstGeom>
          <a:solidFill>
            <a:srgbClr val="0070F3"/>
          </a:solidFill>
          <a:ln w="1016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Train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3968496"/>
            <a:ext cx="316788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11111"/>
                </a:solidFill>
                <a:latin typeface="Microsoft YaHei"/>
              </a:rPr>
              <a:t>强化学习后训练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4315968"/>
            <a:ext cx="3167887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5F6673"/>
                </a:solidFill>
                <a:latin typeface="Microsoft YaHei"/>
              </a:rPr>
              <a:t>生成 rollout，消费 reward 与 token trace，进入 policy update。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" y="4700016"/>
            <a:ext cx="3167887" cy="1325880"/>
          </a:xfrm>
          <a:prstGeom prst="roundRect">
            <a:avLst/>
          </a:prstGeom>
          <a:solidFill>
            <a:srgbClr val="101317"/>
          </a:solidFill>
          <a:ln w="12700">
            <a:solidFill>
              <a:srgbClr val="20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" y="4700016"/>
            <a:ext cx="50292" cy="1325880"/>
          </a:xfrm>
          <a:prstGeom prst="rect">
            <a:avLst/>
          </a:prstGeom>
          <a:solidFill>
            <a:srgbClr val="0070F3"/>
          </a:solidFill>
          <a:ln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3816" y="4846320"/>
            <a:ext cx="91440" cy="9144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8408" y="4846320"/>
            <a:ext cx="91440" cy="9144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43000" y="4846320"/>
            <a:ext cx="91440" cy="914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3" y="5102352"/>
            <a:ext cx="2847847" cy="8503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uenv train run-task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--model "$MODEL_DIR"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--uenv-endpoint "$UENV_ENDPOINT"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--env-type qa --dataset gsm8k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--input "$DATA_JSONL"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--steps 10 --rollouts 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" y="5943600"/>
            <a:ext cx="82296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80">
                <a:solidFill>
                  <a:srgbClr val="0070F3"/>
                </a:solidFill>
                <a:latin typeface="Consolas"/>
              </a:rPr>
              <a:t>checkpoint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54480" y="5943600"/>
            <a:ext cx="5486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80">
                <a:solidFill>
                  <a:srgbClr val="0070F3"/>
                </a:solidFill>
                <a:latin typeface="Consolas"/>
              </a:rPr>
              <a:t>reward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67128" y="5943600"/>
            <a:ext cx="8915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80">
                <a:solidFill>
                  <a:srgbClr val="0070F3"/>
                </a:solidFill>
                <a:latin typeface="Consolas"/>
              </a:rPr>
              <a:t>token trace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7463" y="3401568"/>
            <a:ext cx="3497071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12055" y="3566160"/>
            <a:ext cx="530352" cy="228600"/>
          </a:xfrm>
          <a:prstGeom prst="round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Eval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2055" y="3968496"/>
            <a:ext cx="316788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11111"/>
                </a:solidFill>
                <a:latin typeface="Microsoft YaHei"/>
              </a:rPr>
              <a:t>Benchmark 测评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2055" y="4315968"/>
            <a:ext cx="3167887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5F6673"/>
                </a:solidFill>
                <a:latin typeface="Microsoft YaHei"/>
              </a:rPr>
              <a:t>执行固定评测集，消费 score、pass rate、resolved 等指标。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12055" y="4700016"/>
            <a:ext cx="3167887" cy="1325880"/>
          </a:xfrm>
          <a:prstGeom prst="roundRect">
            <a:avLst/>
          </a:prstGeom>
          <a:solidFill>
            <a:srgbClr val="101317"/>
          </a:solidFill>
          <a:ln w="12700">
            <a:solidFill>
              <a:srgbClr val="20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12055" y="4700016"/>
            <a:ext cx="50292" cy="13258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58359" y="4846320"/>
            <a:ext cx="91440" cy="9144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822951" y="4846320"/>
            <a:ext cx="91440" cy="9144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987543" y="4846320"/>
            <a:ext cx="91440" cy="914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76647" y="5102352"/>
            <a:ext cx="2847847" cy="8503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uenv evaluate run-task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--endpoint "$UENV_ENDPOINT"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--env-type qa --dataset pubmedqa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--input "$DATA_JSONL"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--output "$OUTPUT"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--max-steps 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12055" y="5943600"/>
            <a:ext cx="530352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80">
                <a:solidFill>
                  <a:srgbClr val="16A34A"/>
                </a:solidFill>
                <a:latin typeface="Consolas"/>
              </a:rPr>
              <a:t>score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06415" y="5943600"/>
            <a:ext cx="75438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80">
                <a:solidFill>
                  <a:srgbClr val="16A34A"/>
                </a:solidFill>
                <a:latin typeface="Consolas"/>
              </a:rPr>
              <a:t>pass rate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24803" y="5943600"/>
            <a:ext cx="960119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80">
                <a:solidFill>
                  <a:srgbClr val="16A34A"/>
                </a:solidFill>
                <a:latin typeface="Consolas"/>
              </a:rPr>
              <a:t>result jsonl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92007" y="3401568"/>
            <a:ext cx="3497071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356599" y="3566160"/>
            <a:ext cx="530352" cy="228600"/>
          </a:xfrm>
          <a:prstGeom prst="round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Trace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56599" y="3968496"/>
            <a:ext cx="316788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11111"/>
                </a:solidFill>
                <a:latin typeface="Microsoft YaHei"/>
              </a:rPr>
              <a:t>轨迹采集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56599" y="4315968"/>
            <a:ext cx="3167887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5F6673"/>
                </a:solidFill>
                <a:latin typeface="Microsoft YaHei"/>
              </a:rPr>
              <a:t>提交任务并自动保存 trajectory，用于回放、审计和数据沉淀。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56599" y="4700016"/>
            <a:ext cx="3167887" cy="1152144"/>
          </a:xfrm>
          <a:prstGeom prst="roundRect">
            <a:avLst/>
          </a:prstGeom>
          <a:solidFill>
            <a:srgbClr val="101317"/>
          </a:solidFill>
          <a:ln w="12700">
            <a:solidFill>
              <a:srgbClr val="20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56599" y="4700016"/>
            <a:ext cx="50292" cy="11521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02903" y="4846320"/>
            <a:ext cx="91440" cy="9144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7495" y="4846320"/>
            <a:ext cx="91440" cy="9144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832087" y="4846320"/>
            <a:ext cx="91440" cy="914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1191" y="5102352"/>
            <a:ext cx="2847847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uenv trajectory collect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--endpoint "$UENV_ENDPOINT"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--env-type qa --dataset scitab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--input "$DATA_JSONL" \</a:t>
            </a:r>
          </a:p>
          <a:p>
            <a:pPr algn="l">
              <a:lnSpc>
                <a:spcPct val="105000"/>
              </a:lnSpc>
            </a:pPr>
            <a:r>
              <a:rPr sz="940" b="0">
                <a:solidFill>
                  <a:srgbClr val="E5E7EB"/>
                </a:solidFill>
                <a:latin typeface="Consolas"/>
              </a:rPr>
              <a:t>  --output-dir "$TRAJ_DIR"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56599" y="5943600"/>
            <a:ext cx="82296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80">
                <a:solidFill>
                  <a:srgbClr val="D97706"/>
                </a:solidFill>
                <a:latin typeface="Consolas"/>
              </a:rPr>
              <a:t>trajectory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43567" y="5943600"/>
            <a:ext cx="685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80">
                <a:solidFill>
                  <a:srgbClr val="D97706"/>
                </a:solidFill>
                <a:latin typeface="Consolas"/>
              </a:rPr>
              <a:t>artifact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93375" y="5943600"/>
            <a:ext cx="5486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880">
                <a:solidFill>
                  <a:srgbClr val="D97706"/>
                </a:solidFill>
                <a:latin typeface="Consolas"/>
              </a:rPr>
              <a:t>replay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6446520"/>
            <a:ext cx="11183112" cy="292608"/>
          </a:xfrm>
          <a:prstGeom prst="roundRect">
            <a:avLst/>
          </a:prstGeom>
          <a:solidFill>
            <a:srgbClr val="F8FAFC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944" y="6528816"/>
            <a:ext cx="1069848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4B5563"/>
                </a:solidFill>
                <a:latin typeface="Microsoft YaHei"/>
              </a:rPr>
              <a:t>说明：这里的模型和数据默认已在公共准备阶段完成；任务启动命令只保留执行所需的关键入口参数。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