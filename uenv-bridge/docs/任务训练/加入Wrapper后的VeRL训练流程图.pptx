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247120" cy="41148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45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加入 Wrapper 后的 VeRL 训练流程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15568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22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VeRL 仍负责训练、推理副本和权重同步；UEnv Wrapper 位于 vLLM 访问边界，是外加的模型调用包装层。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6537960" cy="3383280"/>
          </a:xfrm>
          <a:prstGeom prst="roundRect">
            <a:avLst/>
          </a:prstGeom>
          <a:solidFill>
            <a:srgbClr val="EFF6FF"/>
          </a:solidFill>
          <a:ln w="279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0"/>
            <a:ext cx="1463040" cy="31089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Times New Roman"/>
                <a:ea typeface="Microsoft YaHei"/>
                <a:cs typeface="Times New Roman"/>
              </a:rPr>
              <a:t>VeRL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1399032"/>
            <a:ext cx="4389120" cy="21945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19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训练框架内部：策略更新、rollout 推理与权重同步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148840"/>
            <a:ext cx="1572768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2563EB"/>
                </a:solidFill>
                <a:latin typeface="Times New Roman"/>
                <a:ea typeface="Microsoft YaHei"/>
                <a:cs typeface="Times New Roman"/>
              </a:rPr>
              <a:t>TRAIN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训练框架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GRPO update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logprob重算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2148840"/>
            <a:ext cx="1481328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059669"/>
                </a:solidFill>
                <a:latin typeface="Times New Roman"/>
                <a:ea typeface="Microsoft YaHei"/>
                <a:cs typeface="Times New Roman"/>
              </a:rPr>
              <a:t>SYNC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权重同步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更新rollout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记录global_step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6048" y="2194560"/>
            <a:ext cx="1298448" cy="841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7DD3FC"/>
                </a:solidFill>
                <a:latin typeface="Times New Roman"/>
                <a:ea typeface="Microsoft YaHei"/>
                <a:cs typeface="Times New Roman"/>
              </a:rPr>
              <a:t>ROLLOUT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E0F2FE"/>
                </a:solidFill>
                <a:latin typeface="Times New Roman"/>
                <a:ea typeface="Microsoft YaHei"/>
                <a:cs typeface="Times New Roman"/>
              </a:rPr>
              <a:t>vLLM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E0F2FE"/>
                </a:solidFill>
                <a:latin typeface="Times New Roman"/>
                <a:ea typeface="Microsoft YaHei"/>
                <a:cs typeface="Times New Roman"/>
              </a:rPr>
              <a:t>推理框架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633472"/>
            <a:ext cx="384048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34256" y="2633472"/>
            <a:ext cx="621792" cy="0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737360" y="3035808"/>
            <a:ext cx="3730752" cy="1124712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87168" y="4078224"/>
            <a:ext cx="2331720" cy="219456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930" b="1">
                <a:solidFill>
                  <a:srgbClr val="059669"/>
                </a:solidFill>
                <a:latin typeface="Times New Roman"/>
                <a:ea typeface="Microsoft YaHei"/>
                <a:cs typeface="Times New Roman"/>
              </a:rPr>
              <a:t>rollout结果进入训练更新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856231"/>
            <a:ext cx="2148840" cy="1508760"/>
          </a:xfrm>
          <a:prstGeom prst="roundRect">
            <a:avLst/>
          </a:prstGeom>
          <a:solidFill>
            <a:srgbClr val="FFF7ED"/>
          </a:solidFill>
          <a:ln w="27940">
            <a:solidFill>
              <a:srgbClr val="EA580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874519"/>
            <a:ext cx="1060704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UEnv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130552"/>
            <a:ext cx="1060704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Wrapper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432304"/>
            <a:ext cx="1078992" cy="36576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860" b="0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外加部件
不属于VeRL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438144"/>
            <a:ext cx="1874519" cy="2286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919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包裹 vLLM 的模型访问入口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353312"/>
            <a:ext cx="14173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01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UEnv AgentLoop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样本转episode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接收结果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53312"/>
            <a:ext cx="14173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02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EpisodeRequest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payload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model endpoint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88920"/>
            <a:ext cx="14173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03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Server / Worker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调度episode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运行环境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71231" y="2788920"/>
            <a:ext cx="14173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EA580C"/>
                </a:solidFill>
                <a:latin typeface="Times New Roman"/>
                <a:ea typeface="Microsoft YaHei"/>
                <a:cs typeface="Times New Roman"/>
              </a:rPr>
              <a:t>04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EpisodeResult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trajectory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reward/version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040880" y="1773936"/>
            <a:ext cx="530351" cy="100583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88552" y="1773936"/>
            <a:ext cx="246888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48672" y="2194560"/>
            <a:ext cx="0" cy="59436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988552" y="3209544"/>
            <a:ext cx="246888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510528" y="2834640"/>
            <a:ext cx="1060703" cy="374904"/>
          </a:xfrm>
          <a:prstGeom prst="line">
            <a:avLst/>
          </a:prstGeom>
          <a:ln w="25400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6858000" y="2615184"/>
            <a:ext cx="3794760" cy="54864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27264" y="3840480"/>
            <a:ext cx="2331720" cy="22860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930" b="1">
                <a:solidFill>
                  <a:srgbClr val="059669"/>
                </a:solidFill>
                <a:latin typeface="Times New Roman"/>
                <a:ea typeface="Microsoft YaHei"/>
                <a:cs typeface="Times New Roman"/>
              </a:rPr>
              <a:t>环境执行结果回到VeRL训练框架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983480"/>
            <a:ext cx="14173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64008"/>
          <a:lstStyle/>
          <a:p>
            <a:pPr algn="ctr"/>
            <a:r>
              <a:rPr sz="850" b="1">
                <a:solidFill>
                  <a:srgbClr val="2563EB"/>
                </a:solidFill>
                <a:latin typeface="Times New Roman"/>
                <a:ea typeface="Microsoft YaHei"/>
                <a:cs typeface="Times New Roman"/>
              </a:rPr>
              <a:t>INPUT</a:t>
            </a:r>
          </a:p>
          <a:p>
            <a:pPr>
              <a:spcBef>
                <a:spcPts val="200"/>
              </a:spcBef>
            </a:pPr>
            <a:r>
              <a:rPr sz="1330" b="1">
                <a:solidFill>
                  <a:srgbClr val="0F172A"/>
                </a:solidFill>
                <a:latin typeface="Times New Roman"/>
                <a:ea typeface="Microsoft YaHei"/>
                <a:cs typeface="Times New Roman"/>
              </a:rPr>
              <a:t>训练样本</a:t>
            </a:r>
          </a:p>
          <a:p>
            <a:pPr>
              <a:spcBef>
                <a:spcPts val="100"/>
              </a:spcBef>
            </a:pPr>
            <a:r>
              <a:rPr sz="89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batch / seed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444752" y="3108960"/>
            <a:ext cx="219456" cy="187452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788920" y="5074920"/>
            <a:ext cx="8796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73152"/>
          <a:lstStyle/>
          <a:p>
            <a:pPr algn="ctr"/>
            <a:r>
              <a:rPr sz="1030" b="0">
                <a:solidFill>
                  <a:srgbClr val="475569"/>
                </a:solidFill>
                <a:latin typeface="Times New Roman"/>
                <a:ea typeface="Microsoft YaHei"/>
                <a:cs typeface="Times New Roman"/>
              </a:rPr>
              <a:t>表达重点：vLLM 是 VeRL 管理的 rollout 推理框架；UEnv Wrapper 只包裹 vLLM 的调用边界，负责生成参数、reasoning处理、超时重试和版本字段回传，不承担 VeRL 训练框架本身的职责。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5074920"/>
            <a:ext cx="50292" cy="7132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